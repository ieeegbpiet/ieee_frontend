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5943600" y="2194560"/>
            <a:ext cx="6245352" cy="4663440"/>
          </a:xfrm>
          <a:custGeom>
            <a:avLst/>
            <a:gdLst/>
            <a:ahLst/>
            <a:cxnLst/>
            <a:rect l="l" t="t" r="r" b="b"/>
            <a:pathLst>
              <a:path w="6245352" h="4663440">
                <a:moveTo>
                  <a:pt x="0" y="3017520"/>
                </a:moveTo>
                <a:lnTo>
                  <a:pt x="1645920" y="822960"/>
                </a:lnTo>
                <a:lnTo>
                  <a:pt x="2286000" y="1463040"/>
                </a:lnTo>
                <a:lnTo>
                  <a:pt x="3657600" y="0"/>
                </a:lnTo>
                <a:lnTo>
                  <a:pt x="6245352" y="2926080"/>
                </a:lnTo>
                <a:lnTo>
                  <a:pt x="6245352" y="4663440"/>
                </a:lnTo>
                <a:lnTo>
                  <a:pt x="0" y="4663440"/>
                </a:lnTo>
                <a:close/>
              </a:path>
            </a:pathLst>
          </a:custGeom>
          <a:solidFill>
            <a:srgbClr val="17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89520" y="3474720"/>
            <a:ext cx="4599432" cy="3383280"/>
          </a:xfrm>
          <a:custGeom>
            <a:avLst/>
            <a:gdLst/>
            <a:ahLst/>
            <a:cxnLst/>
            <a:rect l="l" t="t" r="r" b="b"/>
            <a:pathLst>
              <a:path w="4599432" h="3383280">
                <a:moveTo>
                  <a:pt x="0" y="2011680"/>
                </a:moveTo>
                <a:lnTo>
                  <a:pt x="1645920" y="274319"/>
                </a:lnTo>
                <a:lnTo>
                  <a:pt x="2651760" y="1097280"/>
                </a:lnTo>
                <a:lnTo>
                  <a:pt x="3474720" y="0"/>
                </a:lnTo>
                <a:lnTo>
                  <a:pt x="4599432" y="1188720"/>
                </a:lnTo>
                <a:lnTo>
                  <a:pt x="4599432" y="3383280"/>
                </a:lnTo>
                <a:lnTo>
                  <a:pt x="0" y="3383280"/>
                </a:lnTo>
                <a:close/>
              </a:path>
            </a:pathLst>
          </a:custGeom>
          <a:solidFill>
            <a:srgbClr val="225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95560" y="658368"/>
            <a:ext cx="585216" cy="585216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A261"/>
                </a:solidFill>
                <a:latin typeface="Aptos"/>
              </a:rPr>
              <a:t>TEAM PROJECT  /  RURAL &amp; HILLY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143000"/>
            <a:ext cx="685800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Learning should
not wait for a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4864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5D7C0"/>
                </a:solidFill>
                <a:latin typeface="Aptos"/>
              </a:rPr>
              <a:t>PAHAD LEARNING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9584"/>
            <a:ext cx="58064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EBF0"/>
                </a:solidFill>
                <a:latin typeface="Aptos"/>
              </a:rPr>
              <a:t>Offline-first learning hubs, with AI support when available
and a real teacher when it matters.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72000"/>
            <a:ext cx="2926080" cy="566928"/>
          </a:xfrm>
          <a:prstGeom prst="roundRect">
            <a:avLst/>
          </a:prstGeom>
          <a:solidFill>
            <a:srgbClr val="2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4736592"/>
            <a:ext cx="219456" cy="21945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727448"/>
            <a:ext cx="22128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LEARN OFFLINE  •  SYNC LATER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5257800"/>
            <a:ext cx="4160520" cy="960120"/>
          </a:xfrm>
          <a:prstGeom prst="round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6096" y="5404104"/>
            <a:ext cx="3383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9D8F"/>
                </a:solidFill>
                <a:latin typeface="Aptos"/>
              </a:rPr>
              <a:t>TEAM POWERSHELL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5660136"/>
            <a:ext cx="1691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Kunal Pal  ·  AIML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5660136"/>
            <a:ext cx="19202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Aptos"/>
              </a:rPr>
              <a:t>Chandan Koranga  ·  CSE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62472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D7E4EC"/>
                </a:solidFill>
                <a:latin typeface="Aptos"/>
              </a:rPr>
              <a:t>A simple promise: your location shouldn't limit your learning.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CB0BE"/>
                </a:solidFill>
                <a:latin typeface="Aptos"/>
              </a:rPr>
              <a:t>POWERSHELL  •  PAHAD LEARNING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9224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CB0BE"/>
                </a:solidFill>
                <a:latin typeface="Apto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Aptos"/>
              </a:rPr>
              <a:t>01 • START WITH THE LEARNER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Meet a student like Meera.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87080"/>
                </a:solidFill>
                <a:latin typeface="Aptos"/>
              </a:rPr>
              <a:t>A composite example of what low-connectivity learning can feel like.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55648"/>
            <a:ext cx="3749039" cy="43159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084831"/>
            <a:ext cx="658368" cy="65836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941832" y="2240280"/>
            <a:ext cx="566928" cy="457200"/>
          </a:xfrm>
          <a:prstGeom prst="arc">
            <a:avLst/>
          </a:prstGeom>
          <a:solidFill>
            <a:srgbClr val="17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2770632"/>
            <a:ext cx="786384" cy="98755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0512" y="216712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MEERA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487168"/>
            <a:ext cx="20116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E4EC"/>
                </a:solidFill>
                <a:latin typeface="Aptos"/>
              </a:rPr>
              <a:t>Class 9 · a village in the hills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3968496"/>
            <a:ext cx="2999232" cy="0"/>
          </a:xfrm>
          <a:prstGeom prst="line">
            <a:avLst/>
          </a:prstGeom>
          <a:ln w="12700">
            <a:solidFill>
              <a:srgbClr val="3E62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6112" y="4224528"/>
            <a:ext cx="3063240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“The video keeps buffering.</a:t>
            </a:r>
            <a:br/>
            <a:r>
              <a:t>I have three doubts.</a:t>
            </a:r>
            <a:br/>
            <a:r>
              <a:t>The test is tomorrow.”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532120"/>
            <a:ext cx="29260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A261"/>
                </a:solidFill>
                <a:latin typeface="Aptos"/>
              </a:rPr>
              <a:t>Her problem isn't a lack of ambition.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810512"/>
            <a:ext cx="699516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28032" y="1993392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2" y="2098548"/>
            <a:ext cx="384048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929384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Signal drops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929384"/>
            <a:ext cx="374903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A live lesson stops halfway through.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816352"/>
            <a:ext cx="699516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28032" y="2999232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3104388"/>
            <a:ext cx="384048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935224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One shared 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935224"/>
            <a:ext cx="374903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Study time competes with family needs.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822191"/>
            <a:ext cx="699516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28032" y="4005072"/>
            <a:ext cx="384048" cy="384048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4110228"/>
            <a:ext cx="384048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3941063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Hard-to-follow 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941063"/>
            <a:ext cx="374903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A copied answer isn't the same as understanding.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4828032"/>
            <a:ext cx="699516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28032" y="5010912"/>
            <a:ext cx="384048" cy="384048"/>
          </a:xfrm>
          <a:prstGeom prst="ellipse">
            <a:avLst/>
          </a:prstGeom>
          <a:solidFill>
            <a:srgbClr val="D96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28032" y="5116068"/>
            <a:ext cx="384048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4946904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No one to ask tonight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946904"/>
            <a:ext cx="374903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A small doubt can block the whole chapter.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5925312"/>
            <a:ext cx="6995160" cy="329184"/>
          </a:xfrm>
          <a:prstGeom prst="roundRect">
            <a:avLst/>
          </a:prstGeom>
          <a:solidFill>
            <a:srgbClr val="DD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1456" y="6007608"/>
            <a:ext cx="6629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97A69"/>
                </a:solidFill>
                <a:latin typeface="Aptos"/>
              </a:rPr>
              <a:t>DESIGN RULE  •  The lesson must work before the internet does.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8909C"/>
                </a:solidFill>
                <a:latin typeface="Aptos"/>
              </a:rPr>
              <a:t>POWERSHELL  •  PAHAD LEARNING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649224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8909C"/>
                </a:solidFill>
                <a:latin typeface="Apto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Aptos"/>
              </a:rPr>
              <a:t>02 • THE HUMAN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A learning corner in the village.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87080"/>
                </a:solidFill>
                <a:latin typeface="Aptos"/>
              </a:rPr>
              <a:t>Not another app that assumes every child has fast data, a private phone, and a quiet room.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01952"/>
            <a:ext cx="3310128" cy="2011680"/>
          </a:xfrm>
          <a:prstGeom prst="round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2121408"/>
            <a:ext cx="438912" cy="438912"/>
          </a:xfrm>
          <a:prstGeom prst="ellipse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67712"/>
            <a:ext cx="43891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57984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27889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93247"/>
                </a:solidFill>
                <a:latin typeface="Aptos"/>
              </a:rPr>
              <a:t>Join the school / village
hub over local Wi-Fi.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56432"/>
            <a:ext cx="20574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506724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2A43"/>
                </a:solidFill>
                <a:latin typeface="Aptos"/>
              </a:rPr>
              <a:t>No mobile data needed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95928" y="2880360"/>
            <a:ext cx="32004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096511" y="2779776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59" y="1901952"/>
            <a:ext cx="3310128" cy="2011680"/>
          </a:xfrm>
          <a:prstGeom prst="roundRect">
            <a:avLst/>
          </a:prstGeom>
          <a:solidFill>
            <a:srgbClr val="DD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9159" y="2121408"/>
            <a:ext cx="438912" cy="438912"/>
          </a:xfrm>
          <a:prstGeom prst="ellipse">
            <a:avLst/>
          </a:prstGeom>
          <a:solidFill>
            <a:srgbClr val="397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267712"/>
            <a:ext cx="43891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1" y="2157984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761488"/>
            <a:ext cx="27889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93247"/>
                </a:solidFill>
                <a:latin typeface="Aptos"/>
              </a:rPr>
              <a:t>Open saved lessons, notes,
quizzes and worked examples.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3456432"/>
            <a:ext cx="20574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3506724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97A69"/>
                </a:solidFill>
                <a:latin typeface="Aptos"/>
              </a:rPr>
              <a:t>Works offline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18119" y="2880360"/>
            <a:ext cx="32004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18704" y="2779776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02752" y="1901952"/>
            <a:ext cx="3310128" cy="2011680"/>
          </a:xfrm>
          <a:prstGeom prst="roundRect">
            <a:avLst/>
          </a:prstGeom>
          <a:solidFill>
            <a:srgbClr val="FC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31352" y="2121408"/>
            <a:ext cx="438912" cy="438912"/>
          </a:xfrm>
          <a:prstGeom prst="ellipse">
            <a:avLst/>
          </a:prstGeom>
          <a:solidFill>
            <a:srgbClr val="92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267712"/>
            <a:ext cx="43891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157984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GET HELP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2761488"/>
            <a:ext cx="27889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93247"/>
                </a:solidFill>
                <a:latin typeface="Aptos"/>
              </a:rPr>
              <a:t>Try guided hints; save a doubt
for a teacher or mentor.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58784" y="3456432"/>
            <a:ext cx="20574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1936" y="3506724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2521A"/>
                </a:solidFill>
                <a:latin typeface="Aptos"/>
              </a:rPr>
              <a:t>AI where available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315968"/>
            <a:ext cx="10881360" cy="6583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17136"/>
            <a:ext cx="2331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A261"/>
                </a:solidFill>
                <a:latin typeface="Aptos"/>
              </a:rPr>
              <a:t>WHEN A SIGNAL RETURNS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2112" y="4498848"/>
            <a:ext cx="79552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Sync progress  •  Download new lessons  •  Send saved doubts  •  Update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376672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Aptos"/>
              </a:rPr>
              <a:t>BUILT AROUND REAL LIFE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5669280"/>
            <a:ext cx="3429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Teacher stays in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5961888"/>
            <a:ext cx="34015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7080"/>
                </a:solidFill>
                <a:latin typeface="Aptos"/>
              </a:rPr>
              <a:t>AI supports; teachers handle confusion and context.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5669280"/>
            <a:ext cx="3429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Language students 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9704" y="5961888"/>
            <a:ext cx="34015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7080"/>
                </a:solidFill>
                <a:latin typeface="Aptos"/>
              </a:rPr>
              <a:t>Hindi first; add local languages with teacher review.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5669280"/>
            <a:ext cx="3429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Shared, low-power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5961888"/>
            <a:ext cx="34015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7080"/>
                </a:solidFill>
                <a:latin typeface="Aptos"/>
              </a:rPr>
              <a:t>School devices first; solar backup only where needed.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8909C"/>
                </a:solidFill>
                <a:latin typeface="Aptos"/>
              </a:rPr>
              <a:t>POWERSHELL  •  PAHAD LEARNING 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27080" y="649224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8909C"/>
                </a:solidFill>
                <a:latin typeface="Apto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A261"/>
                </a:solidFill>
                <a:latin typeface="Aptos"/>
              </a:rPr>
              <a:t>03 •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Keep the learning local. Let the cloud catch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E4EC"/>
                </a:solidFill>
                <a:latin typeface="Aptos"/>
              </a:rPr>
              <a:t>The core experience runs on a local server; internet is for updates, not permission to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2423160" cy="1143000"/>
          </a:xfrm>
          <a:prstGeom prst="roundRect">
            <a:avLst/>
          </a:prstGeom>
          <a:solidFill>
            <a:srgbClr val="2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12264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CONTENT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59736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E4EC"/>
                </a:solidFill>
                <a:latin typeface="Aptos"/>
              </a:rPr>
              <a:t>Curated lessons +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901952"/>
            <a:ext cx="2788920" cy="1143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2112264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VILLAGE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459736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Mini-PC · storage · Wi-Fi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22592" y="1755648"/>
            <a:ext cx="1965960" cy="1417320"/>
          </a:xfrm>
          <a:prstGeom prst="round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011680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STUDENT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59152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Saved lessons
Quiz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755648"/>
            <a:ext cx="1965960" cy="1417320"/>
          </a:xfrm>
          <a:prstGeom prst="roundRect">
            <a:avLst/>
          </a:prstGeom>
          <a:solidFill>
            <a:srgbClr val="FC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0928" y="2011680"/>
            <a:ext cx="1645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TEACHER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0928" y="2359152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Doubts · progress
Quiz 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2468880"/>
            <a:ext cx="548640" cy="0"/>
          </a:xfrm>
          <a:prstGeom prst="line">
            <a:avLst/>
          </a:prstGeom>
          <a:ln w="2540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27248" y="2157984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4A261"/>
                </a:solidFill>
                <a:latin typeface="Aptos"/>
              </a:rPr>
              <a:t>updates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2468880"/>
            <a:ext cx="576072" cy="0"/>
          </a:xfrm>
          <a:prstGeom prst="line">
            <a:avLst/>
          </a:prstGeom>
          <a:ln w="25400">
            <a:solidFill>
              <a:srgbClr val="75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46520" y="2697480"/>
            <a:ext cx="3108960" cy="0"/>
          </a:xfrm>
          <a:prstGeom prst="line">
            <a:avLst/>
          </a:prstGeom>
          <a:ln w="12700">
            <a:solidFill>
              <a:srgbClr val="75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3767328"/>
            <a:ext cx="5166360" cy="1572768"/>
          </a:xfrm>
          <a:prstGeom prst="roundRect">
            <a:avLst/>
          </a:prstGeom>
          <a:solidFill>
            <a:srgbClr val="17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05072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A261"/>
                </a:solidFill>
                <a:latin typeface="Aptos"/>
              </a:rPr>
              <a:t>AI HELP — WITH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370832"/>
            <a:ext cx="457200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Offline: curated hints, examples and downloaded explanations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Online / local model: ask follow-up questions in simple language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Uncertain or complex: save the doubt for a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67328"/>
            <a:ext cx="5349240" cy="1572768"/>
          </a:xfrm>
          <a:prstGeom prst="roundRect">
            <a:avLst/>
          </a:prstGeom>
          <a:solidFill>
            <a:srgbClr val="17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4005072"/>
            <a:ext cx="4526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5D7C0"/>
                </a:solidFill>
                <a:latin typeface="Aptos"/>
              </a:rPr>
              <a:t>PRIVACY &amp;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370832"/>
            <a:ext cx="470916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Keep student data on the hub where practical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Sync only the progress and doubts needed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  <a:latin typeface="Aptos"/>
              </a:defRPr>
            </a:pPr>
            <a:r>
              <a:t>•  Show source lesson; don't present AI as always correct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87568"/>
            <a:ext cx="1417320" cy="292608"/>
          </a:xfrm>
          <a:prstGeom prst="roundRect">
            <a:avLst/>
          </a:prstGeom>
          <a:solidFill>
            <a:srgbClr val="2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737859"/>
            <a:ext cx="12710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OFFLINE-FIRST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5687568"/>
            <a:ext cx="1554480" cy="292608"/>
          </a:xfrm>
          <a:prstGeom prst="roundRect">
            <a:avLst/>
          </a:prstGeom>
          <a:solidFill>
            <a:srgbClr val="2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04872" y="5737859"/>
            <a:ext cx="14081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LOW BANDWIDTH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80" y="5687568"/>
            <a:ext cx="2148840" cy="292608"/>
          </a:xfrm>
          <a:prstGeom prst="roundRect">
            <a:avLst/>
          </a:prstGeom>
          <a:solidFill>
            <a:srgbClr val="2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42232" y="5737859"/>
            <a:ext cx="200253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TEACHER-IN-THE-LOOP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687568"/>
            <a:ext cx="1920240" cy="292608"/>
          </a:xfrm>
          <a:prstGeom prst="roundRect">
            <a:avLst/>
          </a:prstGeom>
          <a:solidFill>
            <a:srgbClr val="2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5737859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DATA MINIMISATION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CB0BE"/>
                </a:solidFill>
                <a:latin typeface="Aptos"/>
              </a:rPr>
              <a:t>POWERSHELL  •  PAHAD LEARNING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9224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CB0BE"/>
                </a:solidFill>
                <a:latin typeface="Apto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Aptos"/>
              </a:rPr>
              <a:t>04 • START SMALL, LEARN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One village. One school. A measurable 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87080"/>
                </a:solidFill>
                <a:latin typeface="Aptos"/>
              </a:rPr>
              <a:t>Reuse what already exists before buying new devices. Costs below are planning estimates, not vendor quotes.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42519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3017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A261"/>
                </a:solidFill>
                <a:latin typeface="Aptos"/>
              </a:rPr>
              <a:t>INDICATIVE SETUP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59736"/>
            <a:ext cx="301752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 Display"/>
              </a:rPr>
              <a:t>₹45k–₹1.2L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99232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E4EC"/>
                </a:solidFill>
                <a:latin typeface="Aptos"/>
              </a:rPr>
              <a:t>one-time · depends on existing equipment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566160"/>
            <a:ext cx="3063239" cy="0"/>
          </a:xfrm>
          <a:prstGeom prst="line">
            <a:avLst/>
          </a:prstGeom>
          <a:ln w="12700">
            <a:solidFill>
              <a:srgbClr val="3E62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3767328"/>
            <a:ext cx="2148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Mini-PC / local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767328"/>
            <a:ext cx="8412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5D7C0"/>
                </a:solidFill>
                <a:latin typeface="Aptos"/>
              </a:rPr>
              <a:t>₹12k–25k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206240"/>
            <a:ext cx="2148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Router + storage +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206240"/>
            <a:ext cx="8412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5D7C0"/>
                </a:solidFill>
                <a:latin typeface="Aptos"/>
              </a:rPr>
              <a:t>₹5k–12k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645152"/>
            <a:ext cx="2148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2–4 shared tablets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645152"/>
            <a:ext cx="8412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5D7C0"/>
                </a:solidFill>
                <a:latin typeface="Aptos"/>
              </a:rPr>
              <a:t>₹20k–60k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084064"/>
            <a:ext cx="2148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Power backup allowance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084064"/>
            <a:ext cx="8412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5D7C0"/>
                </a:solidFill>
                <a:latin typeface="Aptos"/>
              </a:rPr>
              <a:t>₹8k–20k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5099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D7E4EC"/>
                </a:solidFill>
                <a:latin typeface="Aptos"/>
              </a:rPr>
              <a:t>Lower cost: reuse school PCs, phones and existing power.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938528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9D8F"/>
                </a:solidFill>
                <a:latin typeface="Aptos"/>
              </a:rPr>
              <a:t>12-WEEK FIELD PLAN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2395728"/>
            <a:ext cx="393192" cy="39319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519172"/>
            <a:ext cx="39319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1476" y="2807208"/>
            <a:ext cx="0" cy="393192"/>
          </a:xfrm>
          <a:prstGeom prst="line">
            <a:avLst/>
          </a:prstGeom>
          <a:ln w="19050">
            <a:solidFill>
              <a:srgbClr val="B8C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76672" y="2414016"/>
            <a:ext cx="1188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LISTEN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414016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Ask students, parents &amp; teachers about language, device sharing and power.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3227832"/>
            <a:ext cx="393192" cy="39319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351276"/>
            <a:ext cx="39319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1476" y="3639312"/>
            <a:ext cx="0" cy="393192"/>
          </a:xfrm>
          <a:prstGeom prst="line">
            <a:avLst/>
          </a:prstGeom>
          <a:ln w="19050">
            <a:solidFill>
              <a:srgbClr val="B8C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76672" y="3246120"/>
            <a:ext cx="1188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PREPARE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3246120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Load approved curriculum content; train one teacher/mentor.</a:t>
            </a:r>
          </a:p>
        </p:txBody>
      </p:sp>
      <p:sp>
        <p:nvSpPr>
          <p:cNvPr id="30" name="Oval 29"/>
          <p:cNvSpPr/>
          <p:nvPr/>
        </p:nvSpPr>
        <p:spPr>
          <a:xfrm>
            <a:off x="4754880" y="4059936"/>
            <a:ext cx="393192" cy="39319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183380"/>
            <a:ext cx="39319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51476" y="4471416"/>
            <a:ext cx="0" cy="393192"/>
          </a:xfrm>
          <a:prstGeom prst="line">
            <a:avLst/>
          </a:prstGeom>
          <a:ln w="19050">
            <a:solidFill>
              <a:srgbClr val="B8C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76672" y="4078224"/>
            <a:ext cx="1188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4078224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Run normal weekly study sessions for 8–12 weeks; log usage and doubts.</a:t>
            </a:r>
          </a:p>
        </p:txBody>
      </p:sp>
      <p:sp>
        <p:nvSpPr>
          <p:cNvPr id="35" name="Oval 34"/>
          <p:cNvSpPr/>
          <p:nvPr/>
        </p:nvSpPr>
        <p:spPr>
          <a:xfrm>
            <a:off x="4754880" y="4892040"/>
            <a:ext cx="393192" cy="39319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5015483"/>
            <a:ext cx="39319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6672" y="4910327"/>
            <a:ext cx="1188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DECIDE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4910327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Compare learning results and access; fix issues before copying the model.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36592" y="5815584"/>
            <a:ext cx="6583680" cy="347472"/>
          </a:xfrm>
          <a:prstGeom prst="roundRect">
            <a:avLst/>
          </a:prstGeom>
          <a:solidFill>
            <a:srgbClr val="DD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0328" y="5907024"/>
            <a:ext cx="62636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97A69"/>
                </a:solidFill>
                <a:latin typeface="Aptos"/>
              </a:rPr>
              <a:t>No scale-up until students actually learn more—not just click more.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8909C"/>
                </a:solidFill>
                <a:latin typeface="Aptos"/>
              </a:rPr>
              <a:t>POWERSHELL  •  PAHAD LEARNING 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649224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8909C"/>
                </a:solidFill>
                <a:latin typeface="Apto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Aptos"/>
              </a:rPr>
              <a:t>05 • PROOF OF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Measure whether the gap is shrinking.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87080"/>
                </a:solidFill>
                <a:latin typeface="Aptos"/>
              </a:rPr>
              <a:t>Downloads are not success. Better access, understanding and support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2542032" cy="1417320"/>
          </a:xfrm>
          <a:prstGeom prst="round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9D8F"/>
                </a:solidFill>
                <a:latin typeface="Aptos"/>
              </a:rPr>
              <a:t>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Can students finish lessons offline?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21762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7080"/>
                </a:solidFill>
                <a:latin typeface="Aptos"/>
              </a:rPr>
              <a:t>Lessons completed without 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1828800"/>
            <a:ext cx="2542032" cy="1417320"/>
          </a:xfrm>
          <a:prstGeom prst="roundRect">
            <a:avLst/>
          </a:prstGeom>
          <a:solidFill>
            <a:srgbClr val="DD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11680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9D8F"/>
                </a:solidFill>
                <a:latin typeface="Aptos"/>
              </a:rP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Are concepts becoming clearer?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88920"/>
            <a:ext cx="21762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7080"/>
                </a:solidFill>
                <a:latin typeface="Aptos"/>
              </a:rPr>
              <a:t>Baseline vs endline quiz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828800"/>
            <a:ext cx="2542032" cy="1417320"/>
          </a:xfrm>
          <a:prstGeom prst="roundRect">
            <a:avLst/>
          </a:prstGeom>
          <a:solidFill>
            <a:srgbClr val="FC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011680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2521A"/>
                </a:solidFill>
                <a:latin typeface="Aptos"/>
              </a:rPr>
              <a:t>EQUITY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331720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Who is still being left out?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788920"/>
            <a:ext cx="21762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7080"/>
                </a:solidFill>
                <a:latin typeface="Aptos"/>
              </a:rPr>
              <a:t>Use by grade, gender and device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9448" y="1828800"/>
            <a:ext cx="2542032" cy="1417320"/>
          </a:xfrm>
          <a:prstGeom prst="roundRect">
            <a:avLst/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2011680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2521A"/>
                </a:solidFill>
                <a:latin typeface="Aptos"/>
              </a:rP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331720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Do doubts get resolved?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788920"/>
            <a:ext cx="21762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7080"/>
                </a:solidFill>
                <a:latin typeface="Aptos"/>
              </a:rPr>
              <a:t>Time to teacher response; unresolved doubts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794760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9D8F"/>
                </a:solidFill>
                <a:latin typeface="Aptos"/>
              </a:rPr>
              <a:t>12-WEEK ROADMAP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4590288"/>
            <a:ext cx="10104120" cy="0"/>
          </a:xfrm>
          <a:prstGeom prst="line">
            <a:avLst/>
          </a:prstGeom>
          <a:ln w="25400">
            <a:solidFill>
              <a:srgbClr val="B8C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1832" y="4416552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041648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A43"/>
                </a:solidFill>
                <a:latin typeface="Aptos"/>
              </a:rPr>
              <a:t>W1–2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956048"/>
            <a:ext cx="17373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LISTEN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285232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Needs + baseline</a:t>
            </a:r>
          </a:p>
        </p:txBody>
      </p:sp>
      <p:sp>
        <p:nvSpPr>
          <p:cNvPr id="27" name="Oval 26"/>
          <p:cNvSpPr/>
          <p:nvPr/>
        </p:nvSpPr>
        <p:spPr>
          <a:xfrm>
            <a:off x="3776472" y="4416552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4041648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A43"/>
                </a:solidFill>
                <a:latin typeface="Aptos"/>
              </a:rPr>
              <a:t>W3–4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4956048"/>
            <a:ext cx="17373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INSTALL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5285232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Hub + content</a:t>
            </a:r>
          </a:p>
        </p:txBody>
      </p:sp>
      <p:sp>
        <p:nvSpPr>
          <p:cNvPr id="31" name="Oval 30"/>
          <p:cNvSpPr/>
          <p:nvPr/>
        </p:nvSpPr>
        <p:spPr>
          <a:xfrm>
            <a:off x="6611112" y="4416552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041648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A43"/>
                </a:solidFill>
                <a:latin typeface="Aptos"/>
              </a:rPr>
              <a:t>W5–10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956048"/>
            <a:ext cx="17373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285232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Sessions + feedback</a:t>
            </a:r>
          </a:p>
        </p:txBody>
      </p:sp>
      <p:sp>
        <p:nvSpPr>
          <p:cNvPr id="35" name="Oval 34"/>
          <p:cNvSpPr/>
          <p:nvPr/>
        </p:nvSpPr>
        <p:spPr>
          <a:xfrm>
            <a:off x="9445752" y="4416552"/>
            <a:ext cx="347472" cy="34747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4041648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A43"/>
                </a:solidFill>
                <a:latin typeface="Aptos"/>
              </a:rPr>
              <a:t>W11–12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4956048"/>
            <a:ext cx="17373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EVALUATE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5285232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7080"/>
                </a:solidFill>
                <a:latin typeface="Aptos"/>
              </a:rPr>
              <a:t>Compare results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779008"/>
            <a:ext cx="10789920" cy="43891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916168"/>
            <a:ext cx="1143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4A261"/>
                </a:solidFill>
                <a:latin typeface="Aptos"/>
              </a:rPr>
              <a:t>THE PROMISE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6272" y="5879592"/>
            <a:ext cx="88239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 student’s postcode or signal strength should not decide how far they can go.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51967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8909C"/>
                </a:solidFill>
                <a:latin typeface="Aptos"/>
              </a:rPr>
              <a:t>POWERSHELL  •  PAHAD LEARNING 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649224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8909C"/>
                </a:solidFill>
                <a:latin typeface="Apto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Pahad Learning Network — Learning Without Limits</dc:title>
  <dc:subject>Human-centred, offline-first education for rural and hilly India</dc:subject>
  <dc:creator>Team PowerShell</dc:creator>
  <cp:keywords>offline-first, education, rural India, AI, multilingual learning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