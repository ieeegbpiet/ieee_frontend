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3063240"/>
            <a:ext cx="12191695" cy="3794760"/>
          </a:xfrm>
          <a:custGeom>
            <a:avLst/>
            <a:gdLst/>
            <a:ahLst/>
            <a:cxnLst/>
            <a:rect l="l" t="t" r="r" b="b"/>
            <a:pathLst>
              <a:path w="12191695" h="3794760">
                <a:moveTo>
                  <a:pt x="0" y="2514600"/>
                </a:moveTo>
                <a:lnTo>
                  <a:pt x="1554480" y="411480"/>
                </a:lnTo>
                <a:lnTo>
                  <a:pt x="2926080" y="1828800"/>
                </a:lnTo>
                <a:lnTo>
                  <a:pt x="4297680" y="0"/>
                </a:lnTo>
                <a:lnTo>
                  <a:pt x="5852160" y="1783080"/>
                </a:lnTo>
                <a:lnTo>
                  <a:pt x="7680960" y="320040"/>
                </a:lnTo>
                <a:lnTo>
                  <a:pt x="9235440" y="1645920"/>
                </a:lnTo>
                <a:lnTo>
                  <a:pt x="10789920" y="457200"/>
                </a:lnTo>
                <a:lnTo>
                  <a:pt x="12191695" y="1691640"/>
                </a:lnTo>
                <a:lnTo>
                  <a:pt x="12191695" y="3794760"/>
                </a:lnTo>
                <a:lnTo>
                  <a:pt x="0" y="3794760"/>
                </a:lnTo>
                <a:close/>
              </a:path>
            </a:pathLst>
          </a:custGeom>
          <a:solidFill>
            <a:srgbClr val="13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114800"/>
            <a:ext cx="12191695" cy="2743200"/>
          </a:xfrm>
          <a:custGeom>
            <a:avLst/>
            <a:gdLst/>
            <a:ahLst/>
            <a:cxnLst/>
            <a:rect l="l" t="t" r="r" b="b"/>
            <a:pathLst>
              <a:path w="12191695" h="2743200">
                <a:moveTo>
                  <a:pt x="0" y="1783080"/>
                </a:moveTo>
                <a:lnTo>
                  <a:pt x="1920240" y="365760"/>
                </a:lnTo>
                <a:lnTo>
                  <a:pt x="3566160" y="1371600"/>
                </a:lnTo>
                <a:lnTo>
                  <a:pt x="5669280" y="0"/>
                </a:lnTo>
                <a:lnTo>
                  <a:pt x="7315200" y="1371600"/>
                </a:lnTo>
                <a:lnTo>
                  <a:pt x="9144000" y="228600"/>
                </a:lnTo>
                <a:lnTo>
                  <a:pt x="10972800" y="1280160"/>
                </a:lnTo>
                <a:lnTo>
                  <a:pt x="12191695" y="640080"/>
                </a:lnTo>
                <a:lnTo>
                  <a:pt x="12191695" y="2743200"/>
                </a:lnTo>
                <a:lnTo>
                  <a:pt x="0" y="2743200"/>
                </a:lnTo>
                <a:close/>
              </a:path>
            </a:pathLst>
          </a:custGeom>
          <a:solidFill>
            <a:srgbClr val="183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8580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713232"/>
            <a:ext cx="130759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TEAM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676656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>
                <a:solidFill>
                  <a:srgbClr val="F4F8FC"/>
                </a:solidFill>
                <a:latin typeface="Aptos"/>
              </a:rPr>
              <a:t>Learning Without
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761488"/>
            <a:ext cx="6400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DD4BF"/>
                </a:solidFill>
                <a:latin typeface="Aptos"/>
              </a:rPr>
              <a:t>Offline-first education for rural &amp; hilly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520440"/>
            <a:ext cx="576072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BBCCF"/>
                </a:solidFill>
                <a:latin typeface="Aptos"/>
              </a:rPr>
              <a:t>Quality learning should not depend on a strong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051560"/>
            <a:ext cx="3611880" cy="338328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30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353312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TEAM POWERSHELL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1874519"/>
            <a:ext cx="2423160" cy="0"/>
          </a:xfrm>
          <a:prstGeom prst="line">
            <a:avLst/>
          </a:prstGeom>
          <a:ln w="12700">
            <a:solidFill>
              <a:srgbClr val="3A52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38160" y="2148840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BBCCF"/>
                </a:solidFill>
                <a:latin typeface="Aptos"/>
              </a:rPr>
              <a:t>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42032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4F8FC"/>
                </a:solidFill>
                <a:latin typeface="Aptos"/>
              </a:rPr>
              <a:t>Kunal Pal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0779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BBCCF"/>
                </a:solidFill>
                <a:latin typeface="Aptos"/>
              </a:rPr>
              <a:t>AIML • 2nd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364992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4F8FC"/>
                </a:solidFill>
                <a:latin typeface="Aptos"/>
              </a:rPr>
              <a:t>Chandan Koranga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730752"/>
            <a:ext cx="2743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BBCCF"/>
                </a:solidFill>
                <a:latin typeface="Aptos"/>
              </a:rPr>
              <a:t>CSE • 2nd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6245352"/>
            <a:ext cx="59436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INDIA  /  HIMALAYAN &amp; LOW-CONNECTIVITY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01/06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01 • PROBLEM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The learning gap is bigger than the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Remote geography, shared devices and limited local support compound one another.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02/06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842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0A5FA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Unreliable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50008"/>
            <a:ext cx="4069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Weak signals, costly data and weather-related outages interrupt online lessons.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83080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84248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ACC1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947672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Device &amp; power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350008"/>
            <a:ext cx="4069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Phones may be shared; charging and reliable electricity are not guaranteed.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03320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904487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867911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Language &amp;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70248"/>
            <a:ext cx="4069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Students need clear, curriculum-aligned explanations in familiar languages.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703320"/>
            <a:ext cx="5303520" cy="15087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904487"/>
            <a:ext cx="502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B718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867911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4F8FC"/>
                </a:solidFill>
                <a:latin typeface="Aptos"/>
              </a:rPr>
              <a:t>Limited learning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270248"/>
            <a:ext cx="40690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Subject teachers, doubt-solving and career guidance can be far away.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605272"/>
            <a:ext cx="10881360" cy="502920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CORE INSIGHT   •   Build for no internet first; treat connectivity as an occasional bonus.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BBCCF"/>
                </a:solidFill>
                <a:latin typeface="Aptos"/>
              </a:rPr>
              <a:t>POWERSHELL  •  OFFLINE-FIRST LEARNING FOR HILLY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02/06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02 •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Pahad Learning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A shared village learning hub + an offline-first student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03/06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1206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D4BF"/>
                </a:solidFill>
                <a:latin typeface="Aptos"/>
              </a:rPr>
              <a:t>STUDENT EXPERIENCE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148840"/>
            <a:ext cx="1508760" cy="10515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36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350008"/>
            <a:ext cx="13624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1  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71576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BBCCF"/>
                </a:solidFill>
                <a:latin typeface="Aptos"/>
              </a:rPr>
              <a:t>Local Wi-Fi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87168" y="2148840"/>
            <a:ext cx="1508760" cy="10515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36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350008"/>
            <a:ext cx="13624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2  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71576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BBCCF"/>
                </a:solidFill>
                <a:latin typeface="Aptos"/>
              </a:rPr>
              <a:t>Videos + notes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2148840"/>
            <a:ext cx="1508760" cy="10515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3653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2350008"/>
            <a:ext cx="13624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3  Practise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2715768"/>
            <a:ext cx="136245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BBCCF"/>
                </a:solidFill>
                <a:latin typeface="Aptos"/>
              </a:rPr>
              <a:t>Quizzes + save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12848" y="2670048"/>
            <a:ext cx="228600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14215" y="2670048"/>
            <a:ext cx="228601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3566160"/>
            <a:ext cx="5120640" cy="132588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67328"/>
            <a:ext cx="4617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DD4BF"/>
                </a:solidFill>
                <a:latin typeface="Aptos"/>
              </a:rPr>
              <a:t>WHEN CONNECTIVITY RETURNS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160520"/>
            <a:ext cx="45720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4F8FC"/>
                </a:solidFill>
                <a:latin typeface="Aptos"/>
              </a:rPr>
              <a:t>Sync progress, download new lessons and send saved doubts.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691640"/>
            <a:ext cx="50292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DD4BF"/>
                </a:solidFill>
                <a:latin typeface="Aptos"/>
              </a:rPr>
              <a:t>DESIGNED FOR HILLY INDIA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084831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19088" y="2221991"/>
            <a:ext cx="73152" cy="384048"/>
          </a:xfrm>
          <a:prstGeom prst="roundRect">
            <a:avLst>
              <a:gd name="adj" fmla="val 1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57984"/>
            <a:ext cx="4389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Offline content library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414015"/>
            <a:ext cx="4434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NCERT/state-aligned videos, PDFs and quizzes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916936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19088" y="3054096"/>
            <a:ext cx="73152" cy="384048"/>
          </a:xfrm>
          <a:prstGeom prst="roundRect">
            <a:avLst>
              <a:gd name="adj" fmla="val 12000"/>
            </a:avLst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2990088"/>
            <a:ext cx="4389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Multilingual explanations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246120"/>
            <a:ext cx="4434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Hindi first; regional languages where validated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749039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19088" y="3886200"/>
            <a:ext cx="73152" cy="384048"/>
          </a:xfrm>
          <a:prstGeom prst="roundRect">
            <a:avLst>
              <a:gd name="adj" fmla="val 12000"/>
            </a:avLst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822191"/>
            <a:ext cx="4389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Local mentor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4078224"/>
            <a:ext cx="4434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Teacher-led sessions and doubt collection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581144"/>
            <a:ext cx="5074920" cy="658368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19088" y="4718304"/>
            <a:ext cx="73152" cy="384048"/>
          </a:xfrm>
          <a:prstGeom prst="roundRect">
            <a:avLst>
              <a:gd name="adj" fmla="val 12000"/>
            </a:avLst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4654296"/>
            <a:ext cx="438912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Low-power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910328"/>
            <a:ext cx="4434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Shared tablets, local Wi-Fi and solar backup where needed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BBCCF"/>
                </a:solidFill>
                <a:latin typeface="Aptos"/>
              </a:rPr>
              <a:t>POWERSHELL  •  OFFLINE-FIRST LEARNING FOR HILLY INDIA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03/06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03 •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Simple architecture, resilient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The core learning experience runs locally; cloud services are optional for day-to-day study.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04/06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691640"/>
            <a:ext cx="4160520" cy="685800"/>
          </a:xfrm>
          <a:prstGeom prst="roundRect">
            <a:avLst>
              <a:gd name="adj" fmla="val 12000"/>
            </a:avLst>
          </a:prstGeom>
          <a:solidFill>
            <a:srgbClr val="1F3046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1865376"/>
            <a:ext cx="3794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4F8FC"/>
                </a:solidFill>
                <a:latin typeface="Aptos"/>
              </a:rPr>
              <a:t>CLOUD / CONTENT UPDATE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121408"/>
            <a:ext cx="37947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ABBCCF"/>
                </a:solidFill>
                <a:latin typeface="Aptos"/>
              </a:rPr>
              <a:t>Publish lessons • backup • sync when online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3328" y="2395728"/>
            <a:ext cx="0" cy="393192"/>
          </a:xfrm>
          <a:prstGeom prst="line">
            <a:avLst/>
          </a:prstGeom>
          <a:ln w="2540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36208" y="2487168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Aptos"/>
              </a:rPr>
              <a:t>Periodic sync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2834640"/>
            <a:ext cx="6172200" cy="82296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2999232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4F8FC"/>
                </a:solidFill>
                <a:latin typeface="Aptos"/>
              </a:rPr>
              <a:t>VILLAGE EDGE SERVER / MINI-PC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300984"/>
            <a:ext cx="56235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ABBCCF"/>
                </a:solidFill>
                <a:latin typeface="Aptos"/>
              </a:rPr>
              <a:t>Stores content • local Wi-Fi • queues sync events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31720" y="3675887"/>
            <a:ext cx="1554480" cy="576073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53328" y="3675887"/>
            <a:ext cx="0" cy="576073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83879" y="3675887"/>
            <a:ext cx="1600201" cy="576073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4251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4416552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60A5FA"/>
                </a:solidFill>
                <a:latin typeface="Aptos"/>
              </a:rPr>
              <a:t>STUDENT APP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754880"/>
            <a:ext cx="2971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4F8FC"/>
                </a:solidFill>
                <a:latin typeface="Aptos"/>
              </a:rPr>
              <a:t>Offline lessons • saved progress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4251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4416552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ACC15"/>
                </a:solidFill>
                <a:latin typeface="Aptos"/>
              </a:rPr>
              <a:t>TEACHER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9432" y="4754880"/>
            <a:ext cx="2971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4F8FC"/>
                </a:solidFill>
                <a:latin typeface="Aptos"/>
              </a:rPr>
              <a:t>Quizzes • progress • doubts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66175" y="4251960"/>
            <a:ext cx="3246120" cy="91440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3336" y="4416552"/>
            <a:ext cx="2971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86EFAC"/>
                </a:solidFill>
                <a:latin typeface="Aptos"/>
              </a:rPr>
              <a:t>SHARED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4754880"/>
            <a:ext cx="2971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F4F8FC"/>
                </a:solidFill>
                <a:latin typeface="Aptos"/>
              </a:rPr>
              <a:t>Tablet • phone • school PC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577840"/>
            <a:ext cx="2194560" cy="310896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" y="5605272"/>
            <a:ext cx="208483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OFFLINE-FIRST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5577840"/>
            <a:ext cx="2194560" cy="310896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00984" y="5605272"/>
            <a:ext cx="208483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0A5FA"/>
                </a:solidFill>
                <a:latin typeface="Aptos"/>
              </a:rPr>
              <a:t>LOW BANDWIDTH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5577840"/>
            <a:ext cx="2194560" cy="310896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24144" y="5605272"/>
            <a:ext cx="2084831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ACC15"/>
                </a:solidFill>
                <a:latin typeface="Aptos"/>
              </a:rPr>
              <a:t>DATA MINIMISATION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92440" y="5577840"/>
            <a:ext cx="2834640" cy="310896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 w="1524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47304" y="5605272"/>
            <a:ext cx="2724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86EFAC"/>
                </a:solidFill>
                <a:latin typeface="Aptos"/>
              </a:rPr>
              <a:t>TEACHER-IN-THE-LOOP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BBCCF"/>
                </a:solidFill>
                <a:latin typeface="Aptos"/>
              </a:rPr>
              <a:t>POWERSHELL  •  OFFLINE-FIRST LEARNING FOR HILLY INDIA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04/06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04 • FEASIBILITY, COST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Pilot small. Prove learning value. Then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Illustrative one-school / one-village pilot; costs vary by device choices and existing infrastructure.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05/06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4709160" cy="425196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114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INDICATIVE PILOT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0690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4F8FC"/>
                </a:solidFill>
                <a:latin typeface="Aptos"/>
              </a:rPr>
              <a:t>₹45,000–₹1,20,000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4069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ABBCCF"/>
                </a:solidFill>
                <a:latin typeface="Aptos"/>
              </a:rPr>
              <a:t>One-time setup estimate • not a vendor quote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3081528"/>
            <a:ext cx="4160520" cy="0"/>
          </a:xfrm>
          <a:prstGeom prst="line">
            <a:avLst/>
          </a:prstGeom>
          <a:ln w="8890">
            <a:solidFill>
              <a:srgbClr val="304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3154680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4F8FC"/>
                </a:solidFill>
                <a:latin typeface="Aptos"/>
              </a:rPr>
              <a:t>Mini-PC / local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154680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ABBCCF"/>
                </a:solidFill>
                <a:latin typeface="Aptos"/>
              </a:rPr>
              <a:t>₹12k–25k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14400" y="3557016"/>
            <a:ext cx="4160520" cy="0"/>
          </a:xfrm>
          <a:prstGeom prst="line">
            <a:avLst/>
          </a:prstGeom>
          <a:ln w="8890">
            <a:solidFill>
              <a:srgbClr val="304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3630168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4F8FC"/>
                </a:solidFill>
                <a:latin typeface="Aptos"/>
              </a:rPr>
              <a:t>Router + storage +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630168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ABBCCF"/>
                </a:solidFill>
                <a:latin typeface="Aptos"/>
              </a:rPr>
              <a:t>₹5k–12k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032504"/>
            <a:ext cx="4160520" cy="0"/>
          </a:xfrm>
          <a:prstGeom prst="line">
            <a:avLst/>
          </a:prstGeom>
          <a:ln w="8890">
            <a:solidFill>
              <a:srgbClr val="304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105656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4F8FC"/>
                </a:solidFill>
                <a:latin typeface="Aptos"/>
              </a:rPr>
              <a:t>Shared tablets (2–4)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4105656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ABBCCF"/>
                </a:solidFill>
                <a:latin typeface="Aptos"/>
              </a:rPr>
              <a:t>₹20k–60k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4507992"/>
            <a:ext cx="4160520" cy="0"/>
          </a:xfrm>
          <a:prstGeom prst="line">
            <a:avLst/>
          </a:prstGeom>
          <a:ln w="8890">
            <a:solidFill>
              <a:srgbClr val="3042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4581144"/>
            <a:ext cx="3063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F4F8FC"/>
                </a:solidFill>
                <a:latin typeface="Aptos"/>
              </a:rPr>
              <a:t>Power backup / solar allowance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581144"/>
            <a:ext cx="1143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ABBCCF"/>
                </a:solidFill>
                <a:latin typeface="Aptos"/>
              </a:rPr>
              <a:t>₹8k–20k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40690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D4BF"/>
                </a:solidFill>
                <a:latin typeface="Aptos"/>
              </a:rPr>
              <a:t>Reduce cost by reusing school PCs, phones and existing solar/power systems.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1783080"/>
            <a:ext cx="5120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RURAL DEPLOYMENT PLAN</a:t>
            </a:r>
          </a:p>
        </p:txBody>
      </p:sp>
      <p:sp>
        <p:nvSpPr>
          <p:cNvPr id="24" name="Oval 23"/>
          <p:cNvSpPr/>
          <p:nvPr/>
        </p:nvSpPr>
        <p:spPr>
          <a:xfrm>
            <a:off x="5925312" y="2240279"/>
            <a:ext cx="393192" cy="3931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2286000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B1220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212848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Co-design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496312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Consult students, teachers and parents; map language and power needs.</a:t>
            </a:r>
          </a:p>
        </p:txBody>
      </p:sp>
      <p:sp>
        <p:nvSpPr>
          <p:cNvPr id="28" name="Oval 27"/>
          <p:cNvSpPr/>
          <p:nvPr/>
        </p:nvSpPr>
        <p:spPr>
          <a:xfrm>
            <a:off x="5925312" y="3090672"/>
            <a:ext cx="393192" cy="393192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3136392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B1220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063240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Set 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346704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Load approved content; install local Wi-Fi and train one teacher/mentor.</a:t>
            </a:r>
          </a:p>
        </p:txBody>
      </p:sp>
      <p:sp>
        <p:nvSpPr>
          <p:cNvPr id="32" name="Oval 31"/>
          <p:cNvSpPr/>
          <p:nvPr/>
        </p:nvSpPr>
        <p:spPr>
          <a:xfrm>
            <a:off x="5925312" y="3941064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25312" y="3986784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B1220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913632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Pilot 8–12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197096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Use in regular study sessions; collect attendance, quiz and usability data.</a:t>
            </a:r>
          </a:p>
        </p:txBody>
      </p:sp>
      <p:sp>
        <p:nvSpPr>
          <p:cNvPr id="36" name="Oval 35"/>
          <p:cNvSpPr/>
          <p:nvPr/>
        </p:nvSpPr>
        <p:spPr>
          <a:xfrm>
            <a:off x="5925312" y="4791456"/>
            <a:ext cx="393192" cy="39319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25312" y="4837176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B1220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64024"/>
            <a:ext cx="4389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Improve &amp; replicate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047488"/>
            <a:ext cx="4434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Fix content gaps; share a repeatable kit with nearby schools.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BBCCF"/>
                </a:solidFill>
                <a:latin typeface="Aptos"/>
              </a:rPr>
              <a:t>POWERSHELL  •  OFFLINE-FIRST LEARNING FOR HILLY INDIA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05/06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05 • IMPACT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4F8FC"/>
                </a:solidFill>
                <a:latin typeface="Aptos"/>
              </a:rPr>
              <a:t>Measure what matters—not just downloads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61288"/>
            <a:ext cx="107899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BBCCF"/>
                </a:solidFill>
                <a:latin typeface="Aptos"/>
              </a:rPr>
              <a:t>Success means better learning access and outcomes, not simply more screen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06/06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074920" cy="4343400"/>
          </a:xfrm>
          <a:prstGeom prst="roundRect">
            <a:avLst>
              <a:gd name="adj" fmla="val 12000"/>
            </a:avLst>
          </a:prstGeom>
          <a:solidFill>
            <a:srgbClr val="162236"/>
          </a:solidFill>
          <a:ln w="15240">
            <a:solidFill>
              <a:srgbClr val="2D3E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389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PILOT SUCCESS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23744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Access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505456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Lessons completed offline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72384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0A5FA"/>
                </a:solidFill>
                <a:latin typeface="Aptos"/>
              </a:rPr>
              <a:t>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108960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Pre/post quiz improvement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75888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30752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Equity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3712464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Use across gender, grade and device access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79392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334255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0A5FA"/>
                </a:solidFill>
                <a:latin typeface="Aptos"/>
              </a:rPr>
              <a:t>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315968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App availability without internet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882896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1C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937759"/>
            <a:ext cx="1143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Teacher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4919472"/>
            <a:ext cx="2971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4F8FC"/>
                </a:solidFill>
                <a:latin typeface="Aptos"/>
              </a:rPr>
              <a:t>Time to resolve doubts / track progress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783080"/>
            <a:ext cx="5029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DD4BF"/>
                </a:solidFill>
                <a:latin typeface="Aptos"/>
              </a:rPr>
              <a:t>12-WEEK ROADMAP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212848"/>
            <a:ext cx="1234440" cy="393192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295144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Aptos"/>
              </a:rPr>
              <a:t>WEEK 1–2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2212848"/>
            <a:ext cx="3429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Listen &amp; prepare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9248" y="2487168"/>
            <a:ext cx="347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Needs assessment, curriculum selection, baseline quiz.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054096"/>
            <a:ext cx="1234440" cy="393192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136391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Aptos"/>
              </a:rPr>
              <a:t>WEEK 3–4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3054096"/>
            <a:ext cx="3429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Build &amp; install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9248" y="3328415"/>
            <a:ext cx="347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Offline app, content sync, local server, teacher onboarding.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895344"/>
            <a:ext cx="1234440" cy="393192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977639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Aptos"/>
              </a:rPr>
              <a:t>WEEK 5–10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9248" y="3895344"/>
            <a:ext cx="3429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Run the pilot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169663"/>
            <a:ext cx="347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Weekly usage checks, quizzes, feedback and support.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736592"/>
            <a:ext cx="1234440" cy="393192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818888"/>
            <a:ext cx="1143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60A5FA"/>
                </a:solidFill>
                <a:latin typeface="Aptos"/>
              </a:rPr>
              <a:t>WEEK 11–12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736592"/>
            <a:ext cx="3429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4F8FC"/>
                </a:solidFill>
                <a:latin typeface="Aptos"/>
              </a:rPr>
              <a:t>Evaluate &amp; scale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99248" y="5010912"/>
            <a:ext cx="3474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BBCCF"/>
                </a:solidFill>
                <a:latin typeface="Aptos"/>
              </a:rPr>
              <a:t>Compare baseline/endline; decide whether to replicate.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650992"/>
            <a:ext cx="4983480" cy="438912"/>
          </a:xfrm>
          <a:prstGeom prst="roundRect">
            <a:avLst>
              <a:gd name="adj" fmla="val 12000"/>
            </a:avLst>
          </a:prstGeom>
          <a:solidFill>
            <a:srgbClr val="1F3145"/>
          </a:solidFill>
          <a:ln w="1524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5751576"/>
            <a:ext cx="4709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DD4BF"/>
                </a:solidFill>
                <a:latin typeface="Aptos"/>
              </a:rPr>
              <a:t>GOAL: a replicable, teacher-supported model for remote schools.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473952"/>
            <a:ext cx="8686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ABBCCF"/>
                </a:solidFill>
                <a:latin typeface="Aptos"/>
              </a:rPr>
              <a:t>POWERSHELL  •  OFFLINE-FIRST LEARNING FOR HILLY INDIA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BBCCF"/>
                </a:solidFill>
                <a:latin typeface="Aptos"/>
              </a:rPr>
              <a:t>06/06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